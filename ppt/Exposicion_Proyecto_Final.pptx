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0A5FA"/>
                </a:solidFill>
                <a:latin typeface="Segoe UI"/>
              </a:rPr>
              <a:t>PROYECTO FINAL - INTELIGENCIA DE NEGOCIOS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377440"/>
            <a:ext cx="102412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Solucion de Inteligencia de Negocios para el</a:t>
            </a:r>
          </a:p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analisis de la demanda de pasajeros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4160520"/>
            <a:ext cx="2011680" cy="381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526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7D2FE"/>
                </a:solidFill>
                <a:latin typeface="Segoe UI"/>
              </a:rPr>
              <a:t>Operador de corredor complementario de transporte publico urbano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C7D2FE"/>
                </a:solidFill>
                <a:latin typeface="Segoe UI"/>
              </a:rPr>
              <a:t>Vega Carazas, Jonathan Jose  |  U20247082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C7D2FE"/>
                </a:solidFill>
                <a:latin typeface="Segoe UI"/>
              </a:rPr>
              <a:t>Roles: Lider de Proyecto, Analista de Datos, Ingeniero ETL, Disenador de Dashboards, Especialista IA/API y Documentador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989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3A8E8"/>
                </a:solidFill>
                <a:latin typeface="Segoe UI"/>
              </a:rPr>
              <a:t>Docente: Pedro Hernan De La Cruz Velazco  |  Ciclo 1 - 2026  |  UTP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72554"/>
                </a:solidFill>
                <a:latin typeface="Segoe UI"/>
              </a:rPr>
              <a:t>El operador tiene el dato, pero no tiene la informacion.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B5563"/>
                </a:solidFill>
                <a:latin typeface="Segoe UI"/>
              </a:rPr>
              <a:t>Cada abordaje queda registrado por el validador embarcado. Pero ese registro vive en un sistema transaccional disenado para liquidar recaudacion, no para analizar comportamiento.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37413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255264"/>
            <a:ext cx="10222992" cy="6583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172554"/>
                </a:solidFill>
                <a:latin typeface="Segoe UI"/>
              </a:rPr>
              <a:t>Informacion fragmentada:</a:t>
            </a:r>
            <a:r>
              <a:rPr sz="1700">
                <a:solidFill>
                  <a:srgbClr val="4B5563"/>
                </a:solidFill>
                <a:latin typeface="Segoe UI"/>
              </a:rPr>
              <a:t> reportes semanales sueltos, sin historico que permita comparar.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032504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913632"/>
            <a:ext cx="10222992" cy="6583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172554"/>
                </a:solidFill>
                <a:latin typeface="Segoe UI"/>
              </a:rPr>
              <a:t>Dato transaccional:</a:t>
            </a:r>
            <a:r>
              <a:rPr sz="1700">
                <a:solidFill>
                  <a:srgbClr val="4B5563"/>
                </a:solidFill>
                <a:latin typeface="Segoe UI"/>
              </a:rPr>
              <a:t> responde cuanto se recaudo, no en que franja reforzar frecuencias.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690872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4572000"/>
            <a:ext cx="10222992" cy="6583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172554"/>
                </a:solidFill>
                <a:latin typeface="Segoe UI"/>
              </a:rPr>
              <a:t>Decisiones sin sustento:</a:t>
            </a:r>
            <a:r>
              <a:rPr sz="1700">
                <a:solidFill>
                  <a:srgbClr val="4B5563"/>
                </a:solidFill>
                <a:latin typeface="Segoe UI"/>
              </a:rPr>
              <a:t> la programacion de frecuencias y la asignacion de flota dependen de la experiencia del personal.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349240"/>
            <a:ext cx="3291840" cy="11430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349240"/>
            <a:ext cx="54864" cy="1143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555040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11.7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61264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validaciones consolidadas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5349240"/>
            <a:ext cx="3291840" cy="11430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5349240"/>
            <a:ext cx="54864" cy="1143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555040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13 meses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61264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de historico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5349240"/>
            <a:ext cx="3291840" cy="11430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5349240"/>
            <a:ext cx="54864" cy="1143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5592" y="555040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22 rutas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61264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170 paraderos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Arquitectura de la solucion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514600" cy="1737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60A5FA"/>
                </a:solidFill>
                <a:latin typeface="Segoe UI"/>
              </a:rPr>
              <a:t>FUENTE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Sistema OLTP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Validaciones embarcadas</a:t>
            </a:r>
          </a:p>
        </p:txBody>
      </p:sp>
      <p:sp>
        <p:nvSpPr>
          <p:cNvPr id="8" name="Can 7"/>
          <p:cNvSpPr/>
          <p:nvPr/>
        </p:nvSpPr>
        <p:spPr>
          <a:xfrm>
            <a:off x="3209544" y="2606040"/>
            <a:ext cx="219456" cy="365760"/>
          </a:xfrm>
          <a:prstGeom prst="can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920240"/>
            <a:ext cx="2514600" cy="1737360"/>
          </a:xfrm>
          <a:prstGeom prst="rect">
            <a:avLst/>
          </a:prstGeom>
          <a:solidFill>
            <a:srgbClr val="3B5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488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60A5FA"/>
                </a:solidFill>
                <a:latin typeface="Segoe UI"/>
              </a:rPr>
              <a:t>ETL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60604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Python + pandas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Push-down SQL</a:t>
            </a:r>
          </a:p>
        </p:txBody>
      </p:sp>
      <p:sp>
        <p:nvSpPr>
          <p:cNvPr id="12" name="Can 11"/>
          <p:cNvSpPr/>
          <p:nvPr/>
        </p:nvSpPr>
        <p:spPr>
          <a:xfrm>
            <a:off x="6044184" y="2606040"/>
            <a:ext cx="219456" cy="365760"/>
          </a:xfrm>
          <a:prstGeom prst="can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920240"/>
            <a:ext cx="2514600" cy="17373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60A5FA"/>
                </a:solidFill>
                <a:latin typeface="Segoe UI"/>
              </a:rPr>
              <a:t>DATA MART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0604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MariaDB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Modelo dimensional</a:t>
            </a:r>
          </a:p>
        </p:txBody>
      </p:sp>
      <p:sp>
        <p:nvSpPr>
          <p:cNvPr id="16" name="Can 15"/>
          <p:cNvSpPr/>
          <p:nvPr/>
        </p:nvSpPr>
        <p:spPr>
          <a:xfrm>
            <a:off x="8878824" y="2606040"/>
            <a:ext cx="219456" cy="365760"/>
          </a:xfrm>
          <a:prstGeom prst="can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1920240"/>
            <a:ext cx="2514600" cy="173736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21488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60A5FA"/>
                </a:solidFill>
                <a:latin typeface="Segoe UI"/>
              </a:rPr>
              <a:t>EXPLOTACION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60604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Power BI + DAX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Modulo IA (Gemini)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2554"/>
                </a:solidFill>
                <a:latin typeface="Segoe UI"/>
              </a:rPr>
              <a:t>Por que un Data Mart y no consultar directamente el sistema operativo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79145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672584"/>
            <a:ext cx="10222992" cy="6583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Aislamiento:</a:t>
            </a:r>
            <a:r>
              <a:rPr sz="1600">
                <a:solidFill>
                  <a:srgbClr val="4B5563"/>
                </a:solidFill>
                <a:latin typeface="Segoe UI"/>
              </a:rPr>
              <a:t> las consultas analiticas no compiten con la operacion en produccion.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5449824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330952"/>
            <a:ext cx="10222992" cy="6583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Historico:</a:t>
            </a:r>
            <a:r>
              <a:rPr sz="1600">
                <a:solidFill>
                  <a:srgbClr val="4B5563"/>
                </a:solidFill>
                <a:latin typeface="Segoe UI"/>
              </a:rPr>
              <a:t> el OLTP esta optimizado para el dia a dia, no para 13 meses de comparacion.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6108192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5989320"/>
            <a:ext cx="10222992" cy="6583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Grano analitico:</a:t>
            </a:r>
            <a:r>
              <a:rPr sz="1600">
                <a:solidFill>
                  <a:srgbClr val="4B5563"/>
                </a:solidFill>
                <a:latin typeface="Segoe UI"/>
              </a:rPr>
              <a:t> el modelo dimensional responde por ruta, franja y paradero sin recorrer millones de filas.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Modelo dimensional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72554"/>
                </a:solidFill>
                <a:latin typeface="Segoe UI"/>
              </a:rPr>
              <a:t>Constelacion de dos hechos con dimensiones conformadas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57400"/>
            <a:ext cx="5120640" cy="160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fact_validacion_diaria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1,305,099 filas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Grano: fecha x franja x ruta x sentido x paradero x tipo de pasaje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57400"/>
            <a:ext cx="5120640" cy="160020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24028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fact_carrera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310,678 filas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Grano: una fila por carrera (viaje completo)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5563"/>
                </a:solidFill>
                <a:latin typeface="Segoe UI"/>
              </a:rPr>
              <a:t>6 dimensiones conformadas:  dim_tiempo  ·  dim_ruta  ·  dim_paradero  ·  dim_sentido  ·  dim_tipo_pasaje  ·  dim_franja_horaria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26280"/>
            <a:ext cx="10607040" cy="1737360"/>
          </a:xfrm>
          <a:prstGeom prst="rect">
            <a:avLst/>
          </a:prstGeom>
          <a:solidFill>
            <a:srgbClr val="F8FAFF"/>
          </a:solidFill>
          <a:ln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2554"/>
                </a:solidFill>
                <a:latin typeface="Segoe UI"/>
              </a:rPr>
              <a:t>Por que dos tablas de hechos y no una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064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5563"/>
                </a:solidFill>
                <a:latin typeface="Segoe UI"/>
              </a:rPr>
              <a:t>El promedio de pasajeros por viaje necesita contar carreras, no validaciones. Calcularlo sobre el hecho agregado producia doble conteo: una carrera aparece repetida en tantas filas como paraderos y tipos de pasaje tenga. El segundo hecho, con grano de una fila por carrera, da el indicador correcto.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Proceso ETL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72554"/>
                </a:solidFill>
                <a:latin typeface="Segoe UI"/>
              </a:rPr>
              <a:t>De 11.7 millones de abordajes a 1.3 millones de filas analiticas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3969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020824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Derivacion del tipo de pasaje.</a:t>
            </a:r>
            <a:r>
              <a:rPr sz="1600">
                <a:solidFill>
                  <a:srgbClr val="4B5563"/>
                </a:solidFill>
                <a:latin typeface="Segoe UI"/>
              </a:rPr>
              <a:t> El origen no tiene esa columna: se deduce del monto pagado contra la tarifa modal de cada ruta en cada mes.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52928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734056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Normalizacion del sentido.</a:t>
            </a:r>
            <a:r>
              <a:rPr sz="1600">
                <a:solidFill>
                  <a:srgbClr val="4B5563"/>
                </a:solidFill>
                <a:latin typeface="Segoe UI"/>
              </a:rPr>
              <a:t> Seis codigos distintos (NS, SN, IDA, VUELTA, EO, OE) se reducen a Ida y Vuelta conservando el codigo origen.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66160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447288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Nulos que no se descartan.</a:t>
            </a:r>
            <a:r>
              <a:rPr sz="1600">
                <a:solidFill>
                  <a:srgbClr val="4B5563"/>
                </a:solidFill>
                <a:latin typeface="Segoe UI"/>
              </a:rPr>
              <a:t> El 0.56% sin monto se marca como Sin dato: esa persona si viajo, borrarla perderia demanda real.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279392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4160520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Cambio de grano con push-down.</a:t>
            </a:r>
            <a:r>
              <a:rPr sz="1600">
                <a:solidFill>
                  <a:srgbClr val="4B5563"/>
                </a:solidFill>
                <a:latin typeface="Segoe UI"/>
              </a:rPr>
              <a:t> La agregacion se ejecuta en el motor de base de datos, no en memoria de Python.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992624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873752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72554"/>
                </a:solidFill>
                <a:latin typeface="Segoe UI"/>
              </a:rPr>
              <a:t>Minimizacion de datos.</a:t>
            </a:r>
            <a:r>
              <a:rPr sz="1600">
                <a:solidFill>
                  <a:srgbClr val="4B5563"/>
                </a:solidFill>
                <a:latin typeface="Segoe UI"/>
              </a:rPr>
              <a:t> Placa e identificador de conductor se excluyen del Data Mart por diseno.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623560"/>
            <a:ext cx="10607040" cy="8686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806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Control de calidad: la carga se valida por conciliacion de totales contra el origen. Diferencia cero.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Calidad de datos y alcance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72554"/>
                </a:solidFill>
                <a:latin typeface="Segoe UI"/>
              </a:rPr>
              <a:t>El perfilado revelo que la fuente no cubre todo el calendario.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172554"/>
                </a:solidFill>
                <a:latin typeface="Segoe UI"/>
              </a:rPr>
              <a:t>Declararlo delimita el estudio en vez de invalidarlo.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23160"/>
            <a:ext cx="329184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23160"/>
            <a:ext cx="54864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62432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193 de 391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3200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dias con registro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5204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Segoe UI"/>
              </a:rPr>
              <a:t>49.4% del periodo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423160"/>
            <a:ext cx="329184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423160"/>
            <a:ext cx="54864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62432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200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domingos registrados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5204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Segoe UI"/>
              </a:rPr>
              <a:t>sabado: 8 dias, 466 validaciones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2423160"/>
            <a:ext cx="329184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2423160"/>
            <a:ext cx="54864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262432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dic-2025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3200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mes ausente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35204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Segoe UI"/>
              </a:rPr>
              <a:t>sin ningun registro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2336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2554"/>
                </a:solidFill>
                <a:latin typeface="Segoe UI"/>
              </a:rPr>
              <a:t>Consecuencias metodologicas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60857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4489704"/>
            <a:ext cx="10222992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172554"/>
                </a:solidFill>
                <a:latin typeface="Segoe UI"/>
              </a:rPr>
              <a:t>No se comparan totales mensuales.</a:t>
            </a:r>
            <a:r>
              <a:rPr sz="1500">
                <a:solidFill>
                  <a:srgbClr val="4B5563"/>
                </a:solidFill>
                <a:latin typeface="Segoe UI"/>
              </a:rPr>
              <a:t> Un mes con 4 dias de registro no es un mes de baja demanda. Se usa el promedio por dia con registro.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529437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175504"/>
            <a:ext cx="10222992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172554"/>
                </a:solidFill>
                <a:latin typeface="Segoe UI"/>
              </a:rPr>
              <a:t>El estudio se acota a demanda laborable.</a:t>
            </a:r>
            <a:r>
              <a:rPr sz="1500">
                <a:solidFill>
                  <a:srgbClr val="4B5563"/>
                </a:solidFill>
                <a:latin typeface="Segoe UI"/>
              </a:rPr>
              <a:t> El fin de semana no esta representado, ninguna conclusion se extiende a el.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598017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" y="5861304"/>
            <a:ext cx="10222992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172554"/>
                </a:solidFill>
                <a:latin typeface="Segoe UI"/>
              </a:rPr>
              <a:t>Los indicadores estructurales si son validos.</a:t>
            </a:r>
            <a:r>
              <a:rPr sz="1500">
                <a:solidFill>
                  <a:srgbClr val="4B5563"/>
                </a:solidFill>
                <a:latin typeface="Segoe UI"/>
              </a:rPr>
              <a:t> Distribucion por tipo de pasaje, concentracion horaria y participacion por ruta se calculan sobre los dias efectivamente registrados.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Dashboard interactivo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2554"/>
                </a:solidFill>
                <a:latin typeface="Segoe UI"/>
              </a:rPr>
              <a:t>Cuatro KPIs, filtros por ruta y periodo, jerarquia temporal navegable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251460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54864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67128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11,737,931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7432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Total de validaciones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965960"/>
            <a:ext cx="251460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965960"/>
            <a:ext cx="54864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167128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S/ 23.7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7432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Ingreso 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Segoe UI"/>
              </a:rPr>
              <a:t>ticket promedio S/ 2.02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965960"/>
            <a:ext cx="251460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965960"/>
            <a:ext cx="54864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167128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36.84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Pasajeros por viaje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Segoe UI"/>
              </a:rPr>
              <a:t>sobre 310,678 carreras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965960"/>
            <a:ext cx="2514600" cy="1371600"/>
          </a:xfrm>
          <a:prstGeom prst="rect">
            <a:avLst/>
          </a:prstGeom>
          <a:solidFill>
            <a:srgbClr val="F8FAFF"/>
          </a:solidFill>
          <a:ln w="12700">
            <a:solidFill>
              <a:srgbClr val="D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1965960"/>
            <a:ext cx="54864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2167128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72554"/>
                </a:solidFill>
                <a:latin typeface="Segoe UI"/>
              </a:rPr>
              <a:t>45.67%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2" y="27432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5563"/>
                </a:solidFill>
                <a:latin typeface="Segoe UI"/>
              </a:rPr>
              <a:t>Demanda en hora punta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Segoe UI"/>
              </a:rPr>
              <a:t>franjas 6-8h y 17-19h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11880"/>
            <a:ext cx="10607040" cy="2103120"/>
          </a:xfrm>
          <a:prstGeom prst="rect">
            <a:avLst/>
          </a:prstGeom>
          <a:solidFill>
            <a:srgbClr val="FFF7ED"/>
          </a:solidFill>
          <a:ln>
            <a:solidFill>
              <a:srgbClr val="F5C8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8404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A3412"/>
                </a:solidFill>
                <a:latin typeface="Segoe UI"/>
              </a:rPr>
              <a:t>DEMOSTRACION EN VIVO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2976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7C2D12"/>
                </a:solidFill>
                <a:latin typeface="Segoe UI"/>
              </a:rPr>
              <a:t>1.  Filtrar por una ruta y ver como responden los cuatro indicadores.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7C2D12"/>
                </a:solidFill>
                <a:latin typeface="Segoe UI"/>
              </a:rPr>
              <a:t>2.  Filtrar por un mes y comprobar que todos los visuales reaccionan.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7C2D12"/>
                </a:solidFill>
                <a:latin typeface="Segoe UI"/>
              </a:rPr>
              <a:t>3.  Cambiar a la pagina 2: las dos horas punta se ven a simple vista.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5563"/>
                </a:solidFill>
                <a:latin typeface="Segoe UI"/>
              </a:rPr>
              <a:t>El dashboard esta publicado en el servicio: se abre desde el navegador, sin instalar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Integracion de IA via API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72554"/>
                </a:solidFill>
                <a:latin typeface="Segoe UI"/>
              </a:rPr>
              <a:t>Del que paso al que significa y que hacer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2514600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60A5FA"/>
                </a:solidFill>
                <a:latin typeface="Segoe UI"/>
              </a:rPr>
              <a:t>Data Mart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KPIs del corte</a:t>
            </a:r>
          </a:p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seleccionado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7872" y="1920240"/>
            <a:ext cx="2514600" cy="137160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1214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60A5FA"/>
                </a:solidFill>
                <a:latin typeface="Segoe UI"/>
              </a:rPr>
              <a:t>Modulo 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2542032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Construye el contexto</a:t>
            </a:r>
          </a:p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cuantitativo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920240"/>
            <a:ext cx="2514600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214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60A5FA"/>
                </a:solidFill>
                <a:latin typeface="Segoe UI"/>
              </a:rPr>
              <a:t>Google 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542032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Interpreta y redacta</a:t>
            </a:r>
          </a:p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el analisis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920240"/>
            <a:ext cx="2514600" cy="137160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21214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60A5FA"/>
                </a:solidFill>
                <a:latin typeface="Segoe UI"/>
              </a:rPr>
              <a:t>Gerencia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2542032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Hallazgos, acciones</a:t>
            </a:r>
          </a:p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y alertas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1188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2554"/>
                </a:solidFill>
                <a:latin typeface="Segoe UI"/>
              </a:rPr>
              <a:t>Dos decisiones de diseno que conviene destacar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9709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078224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172554"/>
                </a:solidFill>
                <a:latin typeface="Segoe UI"/>
              </a:rPr>
              <a:t>El modelo no calcula, interpreta.</a:t>
            </a:r>
            <a:r>
              <a:rPr sz="1500">
                <a:solidFill>
                  <a:srgbClr val="4B5563"/>
                </a:solidFill>
                <a:latin typeface="Segoe UI"/>
              </a:rPr>
              <a:t> Recibe los indicadores ya computados por el Data Mart. Asi las cifras del analisis son siempre las mismas que las del dashboard.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910328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91456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172554"/>
                </a:solidFill>
                <a:latin typeface="Segoe UI"/>
              </a:rPr>
              <a:t>La clave nunca llega al navegador.</a:t>
            </a:r>
            <a:r>
              <a:rPr sz="1500">
                <a:solidFill>
                  <a:srgbClr val="4B5563"/>
                </a:solidFill>
                <a:latin typeface="Segoe UI"/>
              </a:rPr>
              <a:t> Vive en una variable de entorno del servidor. En el cliente seria extraible desde el inspector.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5623560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504688"/>
            <a:ext cx="10222992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172554"/>
                </a:solidFill>
                <a:latin typeface="Segoe UI"/>
              </a:rPr>
              <a:t>Portabilidad.</a:t>
            </a:r>
            <a:r>
              <a:rPr sz="1500">
                <a:solidFill>
                  <a:srgbClr val="4B5563"/>
                </a:solidFill>
                <a:latin typeface="Segoe UI"/>
              </a:rPr>
              <a:t> Extracto SQLite y PHP portatil: el modulo corre en cualquier equipo con solo colocar una API Key propia.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Hallazgos y recomendaciones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60A5FA"/>
                </a:solidFill>
                <a:latin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2554"/>
                </a:solidFill>
                <a:latin typeface="Segoe UI"/>
              </a:rPr>
              <a:t>Lo que revelo el analisis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91109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1792224"/>
            <a:ext cx="482803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Concentracion de ingreso.</a:t>
            </a:r>
            <a:r>
              <a:rPr sz="1450">
                <a:solidFill>
                  <a:srgbClr val="4B5563"/>
                </a:solidFill>
                <a:latin typeface="Segoe UI"/>
              </a:rPr>
              <a:t> 4 rutas generan el 90.7% del ingreso; solo R-01 aporta el 47.24%.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7977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660904"/>
            <a:ext cx="482803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Demanda en punta.</a:t>
            </a:r>
            <a:r>
              <a:rPr sz="1450">
                <a:solidFill>
                  <a:srgbClr val="4B5563"/>
                </a:solidFill>
                <a:latin typeface="Segoe UI"/>
              </a:rPr>
              <a:t> 45.67% de los abordajes ocurre en 6-8h y 17-19h.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4845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529584"/>
            <a:ext cx="482803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Mezcla tarifaria.</a:t>
            </a:r>
            <a:r>
              <a:rPr sz="1450">
                <a:solidFill>
                  <a:srgbClr val="4B5563"/>
                </a:solidFill>
                <a:latin typeface="Segoe UI"/>
              </a:rPr>
              <a:t> 80% adulto, 16% medio, 3% gratuito.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1713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4398264"/>
            <a:ext cx="482803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Ruta atipica.</a:t>
            </a:r>
            <a:r>
              <a:rPr sz="1450">
                <a:solidFill>
                  <a:srgbClr val="4B5563"/>
                </a:solidFill>
                <a:latin typeface="Segoe UI"/>
              </a:rPr>
              <a:t> R-12 tiene ticket promedio de S/ 1.01 frente a S/ 2.02 general.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2554"/>
                </a:solidFill>
                <a:latin typeface="Segoe UI"/>
              </a:rPr>
              <a:t>Que deberia hacer el operador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191109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1792224"/>
            <a:ext cx="473659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Reforzar frecuencias en punta</a:t>
            </a:r>
            <a:r>
              <a:rPr sz="1450">
                <a:solidFill>
                  <a:srgbClr val="4B5563"/>
                </a:solidFill>
                <a:latin typeface="Segoe UI"/>
              </a:rPr>
              <a:t> y aligerarlas en valle, con la distribucion horaria real.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0" y="277977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2660904"/>
            <a:ext cx="473659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Diversificar el riesgo comercial:</a:t>
            </a:r>
            <a:r>
              <a:rPr sz="1450">
                <a:solidFill>
                  <a:srgbClr val="4B5563"/>
                </a:solidFill>
                <a:latin typeface="Segoe UI"/>
              </a:rPr>
              <a:t> la dependencia de una sola ruta compromete la sostenibilidad.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364845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3408" y="3529584"/>
            <a:ext cx="473659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Gestionar los paraderos criticos</a:t>
            </a:r>
            <a:r>
              <a:rPr sz="1450">
                <a:solidFill>
                  <a:srgbClr val="4B5563"/>
                </a:solidFill>
                <a:latin typeface="Segoe UI"/>
              </a:rPr>
              <a:t> donde se concentra el abordaje.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4517136"/>
            <a:ext cx="118872" cy="118872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93408" y="4398264"/>
            <a:ext cx="4736592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172554"/>
                </a:solidFill>
                <a:latin typeface="Segoe UI"/>
              </a:rPr>
              <a:t>Auditar la validacion</a:t>
            </a:r>
            <a:r>
              <a:rPr sz="1450">
                <a:solidFill>
                  <a:srgbClr val="4B5563"/>
                </a:solidFill>
                <a:latin typeface="Segoe UI"/>
              </a:rPr>
              <a:t> en las rutas con ticket promedio anomalo.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40680"/>
            <a:ext cx="10607040" cy="10058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62356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La concentracion del 90.7% del ingreso en cuatro rutas no era visible sin consolidacion historica.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Ese es, en una frase, el valor de haber construido el Data Mart.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1887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0A5FA"/>
                </a:solidFill>
                <a:latin typeface="Segoe UI"/>
              </a:rPr>
              <a:t>CONCLUSIONES</a:t>
            </a:r>
          </a:p>
        </p:txBody>
      </p:sp>
      <p:sp>
        <p:nvSpPr>
          <p:cNvPr id="3" name="Oval 2"/>
          <p:cNvSpPr/>
          <p:nvPr/>
        </p:nvSpPr>
        <p:spPr>
          <a:xfrm>
            <a:off x="1005840" y="2057400"/>
            <a:ext cx="128016" cy="12801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20240"/>
            <a:ext cx="987552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Se cerro el ciclo completo de BI</a:t>
            </a:r>
            <a:r>
              <a:rPr sz="1700">
                <a:solidFill>
                  <a:srgbClr val="C7D2FE"/>
                </a:solidFill>
                <a:latin typeface="Segoe UI"/>
              </a:rPr>
              <a:t> sobre datos reales: fuente, ETL, Data Mart, dashboard e IA.</a:t>
            </a:r>
          </a:p>
        </p:txBody>
      </p:sp>
      <p:sp>
        <p:nvSpPr>
          <p:cNvPr id="5" name="Oval 4"/>
          <p:cNvSpPr/>
          <p:nvPr/>
        </p:nvSpPr>
        <p:spPr>
          <a:xfrm>
            <a:off x="1005840" y="2807208"/>
            <a:ext cx="128016" cy="12801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670048"/>
            <a:ext cx="987552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El modelo dimensional responde preguntas</a:t>
            </a:r>
            <a:r>
              <a:rPr sz="1700">
                <a:solidFill>
                  <a:srgbClr val="C7D2FE"/>
                </a:solidFill>
                <a:latin typeface="Segoe UI"/>
              </a:rPr>
              <a:t> que el sistema transaccional no podia responder.</a:t>
            </a:r>
          </a:p>
        </p:txBody>
      </p:sp>
      <p:sp>
        <p:nvSpPr>
          <p:cNvPr id="7" name="Oval 6"/>
          <p:cNvSpPr/>
          <p:nvPr/>
        </p:nvSpPr>
        <p:spPr>
          <a:xfrm>
            <a:off x="1005840" y="3557016"/>
            <a:ext cx="128016" cy="12801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419856"/>
            <a:ext cx="987552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La IA agrega lectura, no calculo:</a:t>
            </a:r>
            <a:r>
              <a:rPr sz="1700">
                <a:solidFill>
                  <a:srgbClr val="C7D2FE"/>
                </a:solidFill>
                <a:latin typeface="Segoe UI"/>
              </a:rPr>
              <a:t> interpreta indicadores ya validados y propone acciones.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4306824"/>
            <a:ext cx="128016" cy="12801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169664"/>
            <a:ext cx="987552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El rigor incluye declarar los limites</a:t>
            </a:r>
            <a:r>
              <a:rPr sz="1700">
                <a:solidFill>
                  <a:srgbClr val="C7D2FE"/>
                </a:solidFill>
                <a:latin typeface="Segoe UI"/>
              </a:rPr>
              <a:t> del dato: cobertura parcial y alcance laborable.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5056632"/>
            <a:ext cx="128016" cy="12801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919472"/>
            <a:ext cx="987552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Etica aplicada, no declarativa:</a:t>
            </a:r>
            <a:r>
              <a:rPr sz="1700">
                <a:solidFill>
                  <a:srgbClr val="C7D2FE"/>
                </a:solidFill>
                <a:latin typeface="Segoe UI"/>
              </a:rPr>
              <a:t> minimizacion de datos personales y anonimizacion del conjunto conforme a la Ley N 29733.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Gracias.  Preguntas.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