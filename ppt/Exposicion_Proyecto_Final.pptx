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Presentarme y decir el titulo. Aclarar de entrada que es un proyecto individual y que por eso asumo todos los roles. No leer la lamina: solo decir que se trata de una solucion BI completa sobre datos reales de validaciones de transporte urbano peruano. 30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mensaje central: no es un problema de falta de datos, es de falta de estructura. Tienen millones de registros y no pueden responder preguntas basicas de planificacion. Esa es la brecha que cierra el proyecto. Si preguntan por el sector: corredor complementario, transporte urbano peruano. 60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Recorrer el flujo de izquierda a derecha en una frase por capa. Lo importante son las tres razones de abajo: si el docente pregunta 'por que no consultas directo la base operativa', esa es la respuesta. Mencionar que todo el stack es gratuito. 90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lamina donde se demuestra dominio del modelado. El argumento de las dos tablas de hechos es lo mas defendible del diseno: explica que el grano determina que puedes medir. Si preguntan que es una constelacion: varios hechos compartiendo las mismas dimensiones. 90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derivacion del tipo de pasaje es el punto fuerte: mostrar que hubo que inferir una dimension que no existia, y que se hizo por ruta y por mes porque la tarifa cambia. Si preguntan por que no se separa escolar de universitario: pagan la misma tarifa, es indistinguible desde el monto. Cerrar con la conciliacion. 2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IMPORTANTE. Esta lamina anticipa la pregunta dificil. Si el docente ve un grafico mensual con caidas y pregunta que paso en marzo, la respuesta es cobertura, no demanda. Presentarlo como hallazgo del perfilado, con seguridad: detectarlo y declararlo es rigor metodologico. No pedir disculpas por el dato. 90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SE CAMBIA A POWER BI. No leer los numeros de la lamina, mostrarlos funcionando. Filtrar una ruta, hacer drill-down, y detenerse en el grafico de horas punta para conectar con la recomendacion de frecuencias. Tener la pestana ya abierta y con sesion iniciada ANTES de empezar. 2 minutos de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SE CAMBIA AL MODULO DE IA. Elegir una ruta, generar el analisis en vivo y leer un hallazgo de los que devuelva. Recalcar lo de la clave: es el punto de seguridad que diferencia una integracion seria de una hecha a la ligera. Mencionar que el repositorio esta publicado y que funciona colocando la propia API Key. 2 minutos de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el mensaje del recuadro azul: el hallazgo mas importante solo aparece cuando consolidas el historico. Eso justifica todo el proyecto. Si preguntan por R-12: es una ruta alimentadora con tarifa menor, no necesariamente un fraude, pero merece revision. 90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leer las conclusiones una por una: elegir dos y desarrollarlas. La quinta, la de etica, es la que menos gente trabaja y la que la rubrica pide expresamente. Dejar tiempo para preguntas y responder con calma. Si no se sabe algo, decirlo y explicar como se averiguaria. 45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828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60A5FA"/>
                </a:solidFill>
                <a:latin typeface="Segoe UI"/>
              </a:rPr>
              <a:t>PROYECTO FINAL - INTELIGENCIA DE NEGOCIOS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377440"/>
            <a:ext cx="102412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FFFFFF"/>
                </a:solidFill>
                <a:latin typeface="Segoe UI"/>
              </a:rPr>
              <a:t>Solucion de Inteligencia de Negocios para el</a:t>
            </a:r>
          </a:p>
          <a:p>
            <a:pPr algn="l">
              <a:lnSpc>
                <a:spcPct val="110000"/>
              </a:lnSpc>
            </a:pPr>
            <a:r>
              <a:rPr sz="3800" b="1">
                <a:solidFill>
                  <a:srgbClr val="FFFFFF"/>
                </a:solidFill>
                <a:latin typeface="Segoe UI"/>
              </a:rPr>
              <a:t>analisis de la demanda de pasajeros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160520"/>
            <a:ext cx="2011680" cy="381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452628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C7D2FE"/>
                </a:solidFill>
                <a:latin typeface="Segoe UI"/>
              </a:rPr>
              <a:t>Operador de corredor complementario de transporte publico urbano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C7D2FE"/>
                </a:solidFill>
                <a:latin typeface="Segoe UI"/>
              </a:rPr>
              <a:t>Vega Carazas, Jonathan Jose  |  U20247082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C7D2FE"/>
                </a:solidFill>
                <a:latin typeface="Segoe UI"/>
              </a:rPr>
              <a:t>Roles: Lider de Proyecto, Analista de Datos, Ingeniero ETL, Disenador de Dashboards, Especialista IA/API y Documentador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989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3A8E8"/>
                </a:solidFill>
                <a:latin typeface="Segoe UI"/>
              </a:rPr>
              <a:t>Docente: Pedro Hernan De La Cruz Velazco  |  Ciclo 1 - 2026  |  UTP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01752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60A5FA"/>
                </a:solidFill>
                <a:latin typeface="Segoe U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72554"/>
                </a:solidFill>
                <a:latin typeface="Segoe UI"/>
              </a:rPr>
              <a:t>El operador tiene el dato, pero no tiene la informacion.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4B5563"/>
                </a:solidFill>
                <a:latin typeface="Segoe UI"/>
              </a:rPr>
              <a:t>Cada abordaje queda registrado por el validador embarcado. Pero ese registro vive en un sistema transaccional disenado para liquidar recaudacion, no para analizar comportamiento.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3374136"/>
            <a:ext cx="118872" cy="118872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3255264"/>
            <a:ext cx="10222992" cy="6583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172554"/>
                </a:solidFill>
                <a:latin typeface="Segoe UI"/>
              </a:rPr>
              <a:t>Informacion fragmentada:</a:t>
            </a:r>
            <a:r>
              <a:rPr sz="1700">
                <a:solidFill>
                  <a:srgbClr val="4B5563"/>
                </a:solidFill>
                <a:latin typeface="Segoe UI"/>
              </a:rPr>
              <a:t> reportes semanales sueltos, sin historico que permita comparar.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4032504"/>
            <a:ext cx="118872" cy="118872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3913632"/>
            <a:ext cx="10222992" cy="6583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172554"/>
                </a:solidFill>
                <a:latin typeface="Segoe UI"/>
              </a:rPr>
              <a:t>Dato transaccional:</a:t>
            </a:r>
            <a:r>
              <a:rPr sz="1700">
                <a:solidFill>
                  <a:srgbClr val="4B5563"/>
                </a:solidFill>
                <a:latin typeface="Segoe UI"/>
              </a:rPr>
              <a:t> responde cuanto se recaudo, no en que franja reforzar frecuencias.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690872"/>
            <a:ext cx="118872" cy="118872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4572000"/>
            <a:ext cx="10222992" cy="6583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172554"/>
                </a:solidFill>
                <a:latin typeface="Segoe UI"/>
              </a:rPr>
              <a:t>Decisiones sin sustento:</a:t>
            </a:r>
            <a:r>
              <a:rPr sz="1700">
                <a:solidFill>
                  <a:srgbClr val="4B5563"/>
                </a:solidFill>
                <a:latin typeface="Segoe UI"/>
              </a:rPr>
              <a:t> la programacion de frecuencias y la asignacion de flota dependen de la experiencia del personal.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349240"/>
            <a:ext cx="3291840" cy="1143000"/>
          </a:xfrm>
          <a:prstGeom prst="rect">
            <a:avLst/>
          </a:prstGeom>
          <a:solidFill>
            <a:srgbClr val="F8FAFF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5349240"/>
            <a:ext cx="54864" cy="1143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5550408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72554"/>
                </a:solidFill>
                <a:latin typeface="Segoe UI"/>
              </a:rPr>
              <a:t>11.7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61264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B5563"/>
                </a:solidFill>
                <a:latin typeface="Segoe UI"/>
              </a:rPr>
              <a:t>validaciones consolidadas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5349240"/>
            <a:ext cx="3291840" cy="1143000"/>
          </a:xfrm>
          <a:prstGeom prst="rect">
            <a:avLst/>
          </a:prstGeom>
          <a:solidFill>
            <a:srgbClr val="F8FAFF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5349240"/>
            <a:ext cx="54864" cy="1143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9432" y="5550408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72554"/>
                </a:solidFill>
                <a:latin typeface="Segoe UI"/>
              </a:rPr>
              <a:t>13 meses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61264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B5563"/>
                </a:solidFill>
                <a:latin typeface="Segoe UI"/>
              </a:rPr>
              <a:t>de historico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9560" y="5349240"/>
            <a:ext cx="3291840" cy="1143000"/>
          </a:xfrm>
          <a:prstGeom prst="rect">
            <a:avLst/>
          </a:prstGeom>
          <a:solidFill>
            <a:srgbClr val="F8FAFF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09560" y="5349240"/>
            <a:ext cx="54864" cy="1143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65592" y="5550408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72554"/>
                </a:solidFill>
                <a:latin typeface="Segoe UI"/>
              </a:rPr>
              <a:t>22 rutas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61264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B5563"/>
                </a:solidFill>
                <a:latin typeface="Segoe UI"/>
              </a:rPr>
              <a:t>170 paraderos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Arquitectura de la solucion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01752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60A5FA"/>
                </a:solidFill>
                <a:latin typeface="Segoe U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2514600" cy="17373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60A5FA"/>
                </a:solidFill>
                <a:latin typeface="Segoe UI"/>
              </a:rPr>
              <a:t>FUENTE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Segoe UI"/>
              </a:rPr>
              <a:t>Sistema OLTP</a:t>
            </a:r>
          </a:p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Segoe UI"/>
              </a:rPr>
              <a:t>Validaciones embarcadas</a:t>
            </a:r>
          </a:p>
        </p:txBody>
      </p:sp>
      <p:sp>
        <p:nvSpPr>
          <p:cNvPr id="8" name="Can 7"/>
          <p:cNvSpPr/>
          <p:nvPr/>
        </p:nvSpPr>
        <p:spPr>
          <a:xfrm>
            <a:off x="3209544" y="2606040"/>
            <a:ext cx="219456" cy="365760"/>
          </a:xfrm>
          <a:prstGeom prst="can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920240"/>
            <a:ext cx="2514600" cy="1737360"/>
          </a:xfrm>
          <a:prstGeom prst="rect">
            <a:avLst/>
          </a:prstGeom>
          <a:solidFill>
            <a:srgbClr val="3B5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1488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60A5FA"/>
                </a:solidFill>
                <a:latin typeface="Segoe UI"/>
              </a:rPr>
              <a:t>ETL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60604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Segoe UI"/>
              </a:rPr>
              <a:t>Python + pandas</a:t>
            </a:r>
          </a:p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Segoe UI"/>
              </a:rPr>
              <a:t>Push-down SQL</a:t>
            </a:r>
          </a:p>
        </p:txBody>
      </p:sp>
      <p:sp>
        <p:nvSpPr>
          <p:cNvPr id="12" name="Can 11"/>
          <p:cNvSpPr/>
          <p:nvPr/>
        </p:nvSpPr>
        <p:spPr>
          <a:xfrm>
            <a:off x="6044184" y="2606040"/>
            <a:ext cx="219456" cy="365760"/>
          </a:xfrm>
          <a:prstGeom prst="can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920240"/>
            <a:ext cx="2514600" cy="17373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1488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60A5FA"/>
                </a:solidFill>
                <a:latin typeface="Segoe UI"/>
              </a:rPr>
              <a:t>DATA MART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0604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Segoe UI"/>
              </a:rPr>
              <a:t>MariaDB</a:t>
            </a:r>
          </a:p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Segoe UI"/>
              </a:rPr>
              <a:t>Modelo dimensional</a:t>
            </a:r>
          </a:p>
        </p:txBody>
      </p:sp>
      <p:sp>
        <p:nvSpPr>
          <p:cNvPr id="16" name="Can 15"/>
          <p:cNvSpPr/>
          <p:nvPr/>
        </p:nvSpPr>
        <p:spPr>
          <a:xfrm>
            <a:off x="8878824" y="2606040"/>
            <a:ext cx="219456" cy="365760"/>
          </a:xfrm>
          <a:prstGeom prst="can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0" y="1920240"/>
            <a:ext cx="2514600" cy="173736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14884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60A5FA"/>
                </a:solidFill>
                <a:latin typeface="Segoe UI"/>
              </a:rPr>
              <a:t>EXPLOTACION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606040"/>
            <a:ext cx="2148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Segoe UI"/>
              </a:rPr>
              <a:t>Power BI + DAX</a:t>
            </a:r>
          </a:p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Segoe UI"/>
              </a:rPr>
              <a:t>Modulo IA (Gemini)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1480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72554"/>
                </a:solidFill>
                <a:latin typeface="Segoe UI"/>
              </a:rPr>
              <a:t>Por que un Data Mart y no consultar directamente el sistema operativo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791456"/>
            <a:ext cx="118872" cy="118872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4672584"/>
            <a:ext cx="10222992" cy="6583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72554"/>
                </a:solidFill>
                <a:latin typeface="Segoe UI"/>
              </a:rPr>
              <a:t>Aislamiento:</a:t>
            </a:r>
            <a:r>
              <a:rPr sz="1600">
                <a:solidFill>
                  <a:srgbClr val="4B5563"/>
                </a:solidFill>
                <a:latin typeface="Segoe UI"/>
              </a:rPr>
              <a:t> las consultas analiticas no compiten con la operacion en produccion.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5449824"/>
            <a:ext cx="118872" cy="118872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5330952"/>
            <a:ext cx="10222992" cy="6583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72554"/>
                </a:solidFill>
                <a:latin typeface="Segoe UI"/>
              </a:rPr>
              <a:t>Historico:</a:t>
            </a:r>
            <a:r>
              <a:rPr sz="1600">
                <a:solidFill>
                  <a:srgbClr val="4B5563"/>
                </a:solidFill>
                <a:latin typeface="Segoe UI"/>
              </a:rPr>
              <a:t> el OLTP esta optimizado para el dia a dia, no para 13 meses de comparacion.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" y="6108192"/>
            <a:ext cx="118872" cy="118872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" y="5989320"/>
            <a:ext cx="10222992" cy="6583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72554"/>
                </a:solidFill>
                <a:latin typeface="Segoe UI"/>
              </a:rPr>
              <a:t>Grano analitico:</a:t>
            </a:r>
            <a:r>
              <a:rPr sz="1600">
                <a:solidFill>
                  <a:srgbClr val="4B5563"/>
                </a:solidFill>
                <a:latin typeface="Segoe UI"/>
              </a:rPr>
              <a:t> el modelo dimensional responde por ruta, franja y paradero sin recorrer millones de filas.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Modelo dimensional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01752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60A5FA"/>
                </a:solidFill>
                <a:latin typeface="Segoe U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72554"/>
                </a:solidFill>
                <a:latin typeface="Segoe UI"/>
              </a:rPr>
              <a:t>Constelacion de dos hechos con dimensiones conformadas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057400"/>
            <a:ext cx="5120640" cy="160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6634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Segoe UI"/>
              </a:rPr>
              <a:t>fact_validacion_diaria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Segoe UI"/>
              </a:rPr>
              <a:t>1,305,099 filas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Segoe UI"/>
              </a:rPr>
              <a:t>Grano: fecha x franja x ruta x sentido x paradero x tipo de pasaje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057400"/>
            <a:ext cx="5120640" cy="160020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240280"/>
            <a:ext cx="46634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Segoe UI"/>
              </a:rPr>
              <a:t>fact_carrera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Segoe UI"/>
              </a:rPr>
              <a:t>310,678 filas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Segoe UI"/>
              </a:rPr>
              <a:t>Grano: una fila por carrera (viaje completo)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86200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B5563"/>
                </a:solidFill>
                <a:latin typeface="Segoe UI"/>
              </a:rPr>
              <a:t>6 dimensiones conformadas:  dim_tiempo  ·  dim_ruta  ·  dim_paradero  ·  dim_sentido  ·  dim_tipo_pasaje  ·  dim_franja_horaria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526280"/>
            <a:ext cx="10607040" cy="1737360"/>
          </a:xfrm>
          <a:prstGeom prst="rect">
            <a:avLst/>
          </a:prstGeom>
          <a:solidFill>
            <a:srgbClr val="F8FAFF"/>
          </a:solidFill>
          <a:ln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709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72554"/>
                </a:solidFill>
                <a:latin typeface="Segoe UI"/>
              </a:rPr>
              <a:t>Por que dos tablas de hechos y no una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12064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B5563"/>
                </a:solidFill>
                <a:latin typeface="Segoe UI"/>
              </a:rPr>
              <a:t>El promedio de pasajeros por viaje necesita contar carreras, no validaciones. Calcularlo sobre el hecho agregado producia doble conteo: una carrera aparece repetida en tantas filas como paraderos y tipos de pasaje tenga. El segundo hecho, con grano de una fila por carrera, da el indicador correcto.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Proceso ETL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01752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60A5FA"/>
                </a:solidFill>
                <a:latin typeface="Segoe U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72554"/>
                </a:solidFill>
                <a:latin typeface="Segoe UI"/>
              </a:rPr>
              <a:t>De 11.7 millones de abordajes a 1.3 millones de filas analiticas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139696"/>
            <a:ext cx="118872" cy="118872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020824"/>
            <a:ext cx="10222992" cy="7132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72554"/>
                </a:solidFill>
                <a:latin typeface="Segoe UI"/>
              </a:rPr>
              <a:t>Derivacion del tipo de pasaje.</a:t>
            </a:r>
            <a:r>
              <a:rPr sz="1600">
                <a:solidFill>
                  <a:srgbClr val="4B5563"/>
                </a:solidFill>
                <a:latin typeface="Segoe UI"/>
              </a:rPr>
              <a:t> El origen no tiene esa columna: se deduce del monto pagado contra la tarifa modal de cada ruta en cada mes.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852928"/>
            <a:ext cx="118872" cy="118872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734056"/>
            <a:ext cx="10222992" cy="7132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72554"/>
                </a:solidFill>
                <a:latin typeface="Segoe UI"/>
              </a:rPr>
              <a:t>Normalizacion del sentido.</a:t>
            </a:r>
            <a:r>
              <a:rPr sz="1600">
                <a:solidFill>
                  <a:srgbClr val="4B5563"/>
                </a:solidFill>
                <a:latin typeface="Segoe UI"/>
              </a:rPr>
              <a:t> Seis codigos distintos (NS, SN, IDA, VUELTA, EO, OE) se reducen a Ida y Vuelta conservando el codigo origen.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566160"/>
            <a:ext cx="118872" cy="118872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3447288"/>
            <a:ext cx="10222992" cy="7132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72554"/>
                </a:solidFill>
                <a:latin typeface="Segoe UI"/>
              </a:rPr>
              <a:t>Nulos que no se descartan.</a:t>
            </a:r>
            <a:r>
              <a:rPr sz="1600">
                <a:solidFill>
                  <a:srgbClr val="4B5563"/>
                </a:solidFill>
                <a:latin typeface="Segoe UI"/>
              </a:rPr>
              <a:t> El 0.56% sin monto se marca como Sin dato: esa persona si viajo, borrarla perderia demanda real.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279392"/>
            <a:ext cx="118872" cy="118872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4160520"/>
            <a:ext cx="10222992" cy="7132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72554"/>
                </a:solidFill>
                <a:latin typeface="Segoe UI"/>
              </a:rPr>
              <a:t>Cambio de grano con push-down.</a:t>
            </a:r>
            <a:r>
              <a:rPr sz="1600">
                <a:solidFill>
                  <a:srgbClr val="4B5563"/>
                </a:solidFill>
                <a:latin typeface="Segoe UI"/>
              </a:rPr>
              <a:t> La agregacion se ejecuta en el motor de base de datos, no en memoria de Python.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992624"/>
            <a:ext cx="118872" cy="118872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4873752"/>
            <a:ext cx="10222992" cy="7132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72554"/>
                </a:solidFill>
                <a:latin typeface="Segoe UI"/>
              </a:rPr>
              <a:t>Minimizacion de datos.</a:t>
            </a:r>
            <a:r>
              <a:rPr sz="1600">
                <a:solidFill>
                  <a:srgbClr val="4B5563"/>
                </a:solidFill>
                <a:latin typeface="Segoe UI"/>
              </a:rPr>
              <a:t> Placa e identificador de conductor se excluyen del Data Mart por diseno.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5623560"/>
            <a:ext cx="10607040" cy="8686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8064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Control de calidad: la carga se valida por conciliacion de totales contra el origen. Diferencia cero.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Calidad de datos y alcance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01752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60A5FA"/>
                </a:solidFill>
                <a:latin typeface="Segoe U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72554"/>
                </a:solidFill>
                <a:latin typeface="Segoe UI"/>
              </a:rPr>
              <a:t>El perfilado revelo que la fuente no cubre todo el calendario.</a:t>
            </a:r>
          </a:p>
          <a:p>
            <a:pPr algn="l">
              <a:lnSpc>
                <a:spcPct val="115000"/>
              </a:lnSpc>
            </a:pPr>
            <a:r>
              <a:rPr sz="2100" b="1">
                <a:solidFill>
                  <a:srgbClr val="172554"/>
                </a:solidFill>
                <a:latin typeface="Segoe UI"/>
              </a:rPr>
              <a:t>Declararlo delimita el estudio en vez de invalidarlo.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423160"/>
            <a:ext cx="3291840" cy="1371600"/>
          </a:xfrm>
          <a:prstGeom prst="rect">
            <a:avLst/>
          </a:prstGeom>
          <a:solidFill>
            <a:srgbClr val="F8FAFF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23160"/>
            <a:ext cx="54864" cy="1371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624328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72554"/>
                </a:solidFill>
                <a:latin typeface="Segoe UI"/>
              </a:rPr>
              <a:t>193 de 391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32004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B5563"/>
                </a:solidFill>
                <a:latin typeface="Segoe UI"/>
              </a:rPr>
              <a:t>dias con registro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352044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CA3AF"/>
                </a:solidFill>
                <a:latin typeface="Segoe UI"/>
              </a:rPr>
              <a:t>49.4% del periodo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423160"/>
            <a:ext cx="3291840" cy="1371600"/>
          </a:xfrm>
          <a:prstGeom prst="rect">
            <a:avLst/>
          </a:prstGeom>
          <a:solidFill>
            <a:srgbClr val="F8FAFF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423160"/>
            <a:ext cx="54864" cy="1371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2624328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72554"/>
                </a:solidFill>
                <a:latin typeface="Segoe U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2004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B5563"/>
                </a:solidFill>
                <a:latin typeface="Segoe UI"/>
              </a:rPr>
              <a:t>domingos registrados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352044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CA3AF"/>
                </a:solidFill>
                <a:latin typeface="Segoe UI"/>
              </a:rPr>
              <a:t>sabado: 8 dias, 466 validaciones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2423160"/>
            <a:ext cx="3291840" cy="1371600"/>
          </a:xfrm>
          <a:prstGeom prst="rect">
            <a:avLst/>
          </a:prstGeom>
          <a:solidFill>
            <a:srgbClr val="F8FAFF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9560" y="2423160"/>
            <a:ext cx="54864" cy="1371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2624328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72554"/>
                </a:solidFill>
                <a:latin typeface="Segoe UI"/>
              </a:rPr>
              <a:t>dic-2025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320040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B5563"/>
                </a:solidFill>
                <a:latin typeface="Segoe UI"/>
              </a:rPr>
              <a:t>mes ausente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352044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CA3AF"/>
                </a:solidFill>
                <a:latin typeface="Segoe UI"/>
              </a:rPr>
              <a:t>sin ningun registro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023360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72554"/>
                </a:solidFill>
                <a:latin typeface="Segoe UI"/>
              </a:rPr>
              <a:t>Consecuencias metodologicas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4608576"/>
            <a:ext cx="118872" cy="118872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4489704"/>
            <a:ext cx="10222992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72554"/>
                </a:solidFill>
                <a:latin typeface="Segoe UI"/>
              </a:rPr>
              <a:t>No se comparan totales mensuales.</a:t>
            </a:r>
            <a:r>
              <a:rPr sz="1500">
                <a:solidFill>
                  <a:srgbClr val="4B5563"/>
                </a:solidFill>
                <a:latin typeface="Segoe UI"/>
              </a:rPr>
              <a:t> Un mes con 4 dias de registro no es un mes de baja demanda. Se usa el promedio por dia con registro.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5294376"/>
            <a:ext cx="118872" cy="118872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5175504"/>
            <a:ext cx="10222992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72554"/>
                </a:solidFill>
                <a:latin typeface="Segoe UI"/>
              </a:rPr>
              <a:t>El estudio se acota a demanda laborable.</a:t>
            </a:r>
            <a:r>
              <a:rPr sz="1500">
                <a:solidFill>
                  <a:srgbClr val="4B5563"/>
                </a:solidFill>
                <a:latin typeface="Segoe UI"/>
              </a:rPr>
              <a:t> El fin de semana no esta representado, ninguna conclusion se extiende a el.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" y="5980176"/>
            <a:ext cx="118872" cy="118872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" y="5861304"/>
            <a:ext cx="10222992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72554"/>
                </a:solidFill>
                <a:latin typeface="Segoe UI"/>
              </a:rPr>
              <a:t>Los indicadores estructurales si son validos.</a:t>
            </a:r>
            <a:r>
              <a:rPr sz="1500">
                <a:solidFill>
                  <a:srgbClr val="4B5563"/>
                </a:solidFill>
                <a:latin typeface="Segoe UI"/>
              </a:rPr>
              <a:t> Distribucion por tipo de pasaje, concentracion horaria y participacion por ruta se calculan sobre los dias efectivamente registrados.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Dashboard interactivo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01752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60A5FA"/>
                </a:solidFill>
                <a:latin typeface="Segoe U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72554"/>
                </a:solidFill>
                <a:latin typeface="Segoe UI"/>
              </a:rPr>
              <a:t>Cuatro KPIs, filtros por ruta y periodo, jerarquia temporal navegable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2514600" cy="1371600"/>
          </a:xfrm>
          <a:prstGeom prst="rect">
            <a:avLst/>
          </a:prstGeom>
          <a:solidFill>
            <a:srgbClr val="F8FAFF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54864" cy="1371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216712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72554"/>
                </a:solidFill>
                <a:latin typeface="Segoe UI"/>
              </a:rPr>
              <a:t>11,737,931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74320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B5563"/>
                </a:solidFill>
                <a:latin typeface="Segoe UI"/>
              </a:rPr>
              <a:t>Total de validaciones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965960"/>
            <a:ext cx="2514600" cy="1371600"/>
          </a:xfrm>
          <a:prstGeom prst="rect">
            <a:avLst/>
          </a:prstGeom>
          <a:solidFill>
            <a:srgbClr val="F8FAFF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965960"/>
            <a:ext cx="54864" cy="1371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216712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72554"/>
                </a:solidFill>
                <a:latin typeface="Segoe UI"/>
              </a:rPr>
              <a:t>S/ 23.7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74320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B5563"/>
                </a:solidFill>
                <a:latin typeface="Segoe UI"/>
              </a:rPr>
              <a:t>Ingreso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CA3AF"/>
                </a:solidFill>
                <a:latin typeface="Segoe UI"/>
              </a:rPr>
              <a:t>ticket promedio S/ 2.02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965960"/>
            <a:ext cx="2514600" cy="1371600"/>
          </a:xfrm>
          <a:prstGeom prst="rect">
            <a:avLst/>
          </a:prstGeom>
          <a:solidFill>
            <a:srgbClr val="F8FAFF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965960"/>
            <a:ext cx="54864" cy="1371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216712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72554"/>
                </a:solidFill>
                <a:latin typeface="Segoe UI"/>
              </a:rPr>
              <a:t>36.84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74320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B5563"/>
                </a:solidFill>
                <a:latin typeface="Segoe UI"/>
              </a:rPr>
              <a:t>Pasajeros por viaje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CA3AF"/>
                </a:solidFill>
                <a:latin typeface="Segoe UI"/>
              </a:rPr>
              <a:t>sobre 310,678 carreras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1965960"/>
            <a:ext cx="2514600" cy="1371600"/>
          </a:xfrm>
          <a:prstGeom prst="rect">
            <a:avLst/>
          </a:prstGeom>
          <a:solidFill>
            <a:srgbClr val="F8FAFF"/>
          </a:solidFill>
          <a:ln w="12700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680" y="1965960"/>
            <a:ext cx="54864" cy="1371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25712" y="216712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72554"/>
                </a:solidFill>
                <a:latin typeface="Segoe UI"/>
              </a:rPr>
              <a:t>45.67%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5712" y="274320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B5563"/>
                </a:solidFill>
                <a:latin typeface="Segoe UI"/>
              </a:rPr>
              <a:t>Demanda en hora punta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CA3AF"/>
                </a:solidFill>
                <a:latin typeface="Segoe UI"/>
              </a:rPr>
              <a:t>franjas 6-8h y 17-19h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11880"/>
            <a:ext cx="10607040" cy="2103120"/>
          </a:xfrm>
          <a:prstGeom prst="rect">
            <a:avLst/>
          </a:prstGeom>
          <a:solidFill>
            <a:srgbClr val="FFF7ED"/>
          </a:solidFill>
          <a:ln>
            <a:solidFill>
              <a:srgbClr val="F5C8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38404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9A3412"/>
                </a:solidFill>
                <a:latin typeface="Segoe UI"/>
              </a:rPr>
              <a:t>DEMOSTRACION EN VIVO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29768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7C2D12"/>
                </a:solidFill>
                <a:latin typeface="Segoe UI"/>
              </a:rPr>
              <a:t>1.  Filtrar por una ruta y ver como responden los cuatro indicadores.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7C2D12"/>
                </a:solidFill>
                <a:latin typeface="Segoe UI"/>
              </a:rPr>
              <a:t>2.  Drill-down en la jerarquia de tiempo: ano, trimestre, mes.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7C2D12"/>
                </a:solidFill>
                <a:latin typeface="Segoe UI"/>
              </a:rPr>
              <a:t>3.  Grafico de demanda por hora: las dos horas punta se ven a simple vista.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9436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B5563"/>
                </a:solidFill>
                <a:latin typeface="Segoe UI"/>
              </a:rPr>
              <a:t>El dashboard esta publicado en el servicio: se abre desde el navegador, sin instalar nada.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Integracion de IA via API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01752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60A5FA"/>
                </a:solidFill>
                <a:latin typeface="Segoe U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72554"/>
                </a:solidFill>
                <a:latin typeface="Segoe UI"/>
              </a:rPr>
              <a:t>Del que paso al que significa y que hacer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2514600" cy="1371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2140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60A5FA"/>
                </a:solidFill>
                <a:latin typeface="Segoe UI"/>
              </a:rPr>
              <a:t>Data Mart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KPIs del corte</a:t>
            </a:r>
          </a:p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seleccionado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7872" y="1920240"/>
            <a:ext cx="2514600" cy="137160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2" y="212140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60A5FA"/>
                </a:solidFill>
                <a:latin typeface="Segoe UI"/>
              </a:rPr>
              <a:t>Modulo PHP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2542032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Construye el contexto</a:t>
            </a:r>
          </a:p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cuantitativo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18504" y="1920240"/>
            <a:ext cx="2514600" cy="1371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212140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60A5FA"/>
                </a:solidFill>
                <a:latin typeface="Segoe UI"/>
              </a:rPr>
              <a:t>Google Gemini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542032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Interpreta y redacta</a:t>
            </a:r>
          </a:p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el analisis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89136" y="1920240"/>
            <a:ext cx="2514600" cy="137160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26296" y="212140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60A5FA"/>
                </a:solidFill>
                <a:latin typeface="Segoe UI"/>
              </a:rPr>
              <a:t>Gerencia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6296" y="2542032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Hallazgos, acciones</a:t>
            </a:r>
          </a:p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y alertas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611880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72554"/>
                </a:solidFill>
                <a:latin typeface="Segoe UI"/>
              </a:rPr>
              <a:t>Dos decisiones de diseno que conviene destacar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4197096"/>
            <a:ext cx="118872" cy="118872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4078224"/>
            <a:ext cx="10222992" cy="7132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72554"/>
                </a:solidFill>
                <a:latin typeface="Segoe UI"/>
              </a:rPr>
              <a:t>El modelo no calcula, interpreta.</a:t>
            </a:r>
            <a:r>
              <a:rPr sz="1500">
                <a:solidFill>
                  <a:srgbClr val="4B5563"/>
                </a:solidFill>
                <a:latin typeface="Segoe UI"/>
              </a:rPr>
              <a:t> Recibe los indicadores ya computados por el Data Mart. Asi las cifras del analisis son siempre las mismas que las del dashboard.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910328"/>
            <a:ext cx="118872" cy="118872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4791456"/>
            <a:ext cx="10222992" cy="7132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72554"/>
                </a:solidFill>
                <a:latin typeface="Segoe UI"/>
              </a:rPr>
              <a:t>La clave nunca llega al navegador.</a:t>
            </a:r>
            <a:r>
              <a:rPr sz="1500">
                <a:solidFill>
                  <a:srgbClr val="4B5563"/>
                </a:solidFill>
                <a:latin typeface="Segoe UI"/>
              </a:rPr>
              <a:t> Vive en una variable de entorno del servidor. En el cliente seria extraible desde el inspector.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5623560"/>
            <a:ext cx="118872" cy="118872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5504688"/>
            <a:ext cx="10222992" cy="7132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72554"/>
                </a:solidFill>
                <a:latin typeface="Segoe UI"/>
              </a:rPr>
              <a:t>Portabilidad.</a:t>
            </a:r>
            <a:r>
              <a:rPr sz="1500">
                <a:solidFill>
                  <a:srgbClr val="4B5563"/>
                </a:solidFill>
                <a:latin typeface="Segoe UI"/>
              </a:rPr>
              <a:t> Extracto SQLite y PHP portatil: el modulo corre en cualquier equipo con solo colocar una API Key propia.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Hallazgos y recomendaciones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301752"/>
            <a:ext cx="731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>
                <a:solidFill>
                  <a:srgbClr val="60A5FA"/>
                </a:solidFill>
                <a:latin typeface="Segoe U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72554"/>
                </a:solidFill>
                <a:latin typeface="Segoe UI"/>
              </a:rPr>
              <a:t>Lo que revelo el analisis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911096"/>
            <a:ext cx="118872" cy="118872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1792224"/>
            <a:ext cx="4828032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172554"/>
                </a:solidFill>
                <a:latin typeface="Segoe UI"/>
              </a:rPr>
              <a:t>Concentracion de ingreso.</a:t>
            </a:r>
            <a:r>
              <a:rPr sz="1450">
                <a:solidFill>
                  <a:srgbClr val="4B5563"/>
                </a:solidFill>
                <a:latin typeface="Segoe UI"/>
              </a:rPr>
              <a:t> 4 rutas generan el 90.7% del ingreso; solo R-01 aporta el 47.24%.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779776"/>
            <a:ext cx="118872" cy="118872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660904"/>
            <a:ext cx="4828032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172554"/>
                </a:solidFill>
                <a:latin typeface="Segoe UI"/>
              </a:rPr>
              <a:t>Demanda en punta.</a:t>
            </a:r>
            <a:r>
              <a:rPr sz="1450">
                <a:solidFill>
                  <a:srgbClr val="4B5563"/>
                </a:solidFill>
                <a:latin typeface="Segoe UI"/>
              </a:rPr>
              <a:t> 45.67% de los abordajes ocurre en 6-8h y 17-19h.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48456"/>
            <a:ext cx="118872" cy="118872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3529584"/>
            <a:ext cx="4828032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172554"/>
                </a:solidFill>
                <a:latin typeface="Segoe UI"/>
              </a:rPr>
              <a:t>Mezcla tarifaria.</a:t>
            </a:r>
            <a:r>
              <a:rPr sz="1450">
                <a:solidFill>
                  <a:srgbClr val="4B5563"/>
                </a:solidFill>
                <a:latin typeface="Segoe UI"/>
              </a:rPr>
              <a:t> 80% adulto, 16% medio, 3% gratuito.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517136"/>
            <a:ext cx="118872" cy="118872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4398264"/>
            <a:ext cx="4828032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172554"/>
                </a:solidFill>
                <a:latin typeface="Segoe UI"/>
              </a:rPr>
              <a:t>Ruta atipica.</a:t>
            </a:r>
            <a:r>
              <a:rPr sz="1450">
                <a:solidFill>
                  <a:srgbClr val="4B5563"/>
                </a:solidFill>
                <a:latin typeface="Segoe UI"/>
              </a:rPr>
              <a:t> R-12 tiene ticket promedio de S/ 1.01 frente a S/ 2.02 general.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32588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72554"/>
                </a:solidFill>
                <a:latin typeface="Segoe UI"/>
              </a:rPr>
              <a:t>Que deberia hacer el operador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1911096"/>
            <a:ext cx="118872" cy="118872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3408" y="1792224"/>
            <a:ext cx="4736592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172554"/>
                </a:solidFill>
                <a:latin typeface="Segoe UI"/>
              </a:rPr>
              <a:t>Reforzar frecuencias en punta</a:t>
            </a:r>
            <a:r>
              <a:rPr sz="1450">
                <a:solidFill>
                  <a:srgbClr val="4B5563"/>
                </a:solidFill>
                <a:latin typeface="Segoe UI"/>
              </a:rPr>
              <a:t> y aligerarlas en valle, con la distribucion horaria real.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2779776"/>
            <a:ext cx="118872" cy="118872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3408" y="2660904"/>
            <a:ext cx="4736592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172554"/>
                </a:solidFill>
                <a:latin typeface="Segoe UI"/>
              </a:rPr>
              <a:t>Diversificar el riesgo comercial:</a:t>
            </a:r>
            <a:r>
              <a:rPr sz="1450">
                <a:solidFill>
                  <a:srgbClr val="4B5563"/>
                </a:solidFill>
                <a:latin typeface="Segoe UI"/>
              </a:rPr>
              <a:t> la dependencia de una sola ruta compromete la sostenibilidad.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3648456"/>
            <a:ext cx="118872" cy="118872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3408" y="3529584"/>
            <a:ext cx="4736592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172554"/>
                </a:solidFill>
                <a:latin typeface="Segoe UI"/>
              </a:rPr>
              <a:t>Gestionar los paraderos criticos</a:t>
            </a:r>
            <a:r>
              <a:rPr sz="1450">
                <a:solidFill>
                  <a:srgbClr val="4B5563"/>
                </a:solidFill>
                <a:latin typeface="Segoe UI"/>
              </a:rPr>
              <a:t> donde se concentra el abordaje.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4517136"/>
            <a:ext cx="118872" cy="118872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93408" y="4398264"/>
            <a:ext cx="4736592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450" b="1">
                <a:solidFill>
                  <a:srgbClr val="172554"/>
                </a:solidFill>
                <a:latin typeface="Segoe UI"/>
              </a:rPr>
              <a:t>Auditar la validacion</a:t>
            </a:r>
            <a:r>
              <a:rPr sz="1450">
                <a:solidFill>
                  <a:srgbClr val="4B5563"/>
                </a:solidFill>
                <a:latin typeface="Segoe UI"/>
              </a:rPr>
              <a:t> en las rutas con ticket promedio anomalo.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440680"/>
            <a:ext cx="10607040" cy="10058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623560"/>
            <a:ext cx="10058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La concentracion del 90.7% del ingreso en cuatro rutas no era visible sin consolidacion historica.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Ese es, en una frase, el valor de haber construido el Data Mart.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1887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60A5FA"/>
                </a:solidFill>
                <a:latin typeface="Segoe UI"/>
              </a:rPr>
              <a:t>CONCLUSIONES</a:t>
            </a:r>
          </a:p>
        </p:txBody>
      </p:sp>
      <p:sp>
        <p:nvSpPr>
          <p:cNvPr id="3" name="Oval 2"/>
          <p:cNvSpPr/>
          <p:nvPr/>
        </p:nvSpPr>
        <p:spPr>
          <a:xfrm>
            <a:off x="1005840" y="2057400"/>
            <a:ext cx="128016" cy="12801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1920240"/>
            <a:ext cx="987552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Se cerro el ciclo completo de BI</a:t>
            </a:r>
            <a:r>
              <a:rPr sz="1700">
                <a:solidFill>
                  <a:srgbClr val="C7D2FE"/>
                </a:solidFill>
                <a:latin typeface="Segoe UI"/>
              </a:rPr>
              <a:t> sobre datos reales: fuente, ETL, Data Mart, dashboard e IA.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2807208"/>
            <a:ext cx="128016" cy="12801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670048"/>
            <a:ext cx="987552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El modelo dimensional responde preguntas</a:t>
            </a:r>
            <a:r>
              <a:rPr sz="1700">
                <a:solidFill>
                  <a:srgbClr val="C7D2FE"/>
                </a:solidFill>
                <a:latin typeface="Segoe UI"/>
              </a:rPr>
              <a:t> que el sistema transaccional no podia responder.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3557016"/>
            <a:ext cx="128016" cy="12801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3419856"/>
            <a:ext cx="987552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La IA agrega lectura, no calculo:</a:t>
            </a:r>
            <a:r>
              <a:rPr sz="1700">
                <a:solidFill>
                  <a:srgbClr val="C7D2FE"/>
                </a:solidFill>
                <a:latin typeface="Segoe UI"/>
              </a:rPr>
              <a:t> interpreta indicadores ya validados y propone acciones.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4306824"/>
            <a:ext cx="128016" cy="12801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4169664"/>
            <a:ext cx="987552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El rigor incluye declarar los limites</a:t>
            </a:r>
            <a:r>
              <a:rPr sz="1700">
                <a:solidFill>
                  <a:srgbClr val="C7D2FE"/>
                </a:solidFill>
                <a:latin typeface="Segoe UI"/>
              </a:rPr>
              <a:t> del dato: cobertura parcial y alcance laborable.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5056632"/>
            <a:ext cx="128016" cy="12801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4919472"/>
            <a:ext cx="987552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Etica aplicada, no declarativa:</a:t>
            </a:r>
            <a:r>
              <a:rPr sz="1700">
                <a:solidFill>
                  <a:srgbClr val="C7D2FE"/>
                </a:solidFill>
                <a:latin typeface="Segoe UI"/>
              </a:rPr>
              <a:t> minimizacion de datos personales y anonimizacion del conjunto conforme a la Ley N 29733.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9436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Segoe UI"/>
              </a:rPr>
              <a:t>Gracias.  Preguntas.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